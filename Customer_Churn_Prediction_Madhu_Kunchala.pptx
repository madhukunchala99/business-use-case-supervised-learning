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966960" y="-182880"/>
            <a:ext cx="2743200" cy="7315200"/>
          </a:xfrm>
          <a:prstGeom prst="parallelogram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646920" y="-182880"/>
            <a:ext cx="228600" cy="73152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6E23"/>
                </a:solidFill>
                <a:latin typeface="Aptos Display"/>
              </a:defRPr>
            </a:pPr>
            <a:r>
              <a:t>CALIBO AI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03504"/>
            <a:ext cx="914400" cy="32004"/>
          </a:xfrm>
          <a:prstGeom prst="rect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CUSTOMER CHURN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8046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800" b="1">
                <a:solidFill>
                  <a:srgbClr val="F56E23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9748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0">
                <a:solidFill>
                  <a:srgbClr val="DCDCDC"/>
                </a:solidFill>
                <a:latin typeface="Aptos"/>
              </a:defRPr>
            </a:pPr>
            <a:r>
              <a:t>A supervised learning approach to identify customers at risk of leaving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074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B4B4B4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39496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MADHU KUNCHALA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0807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56E23"/>
                </a:solidFill>
                <a:latin typeface="Aptos"/>
              </a:defRPr>
            </a:pPr>
            <a:r>
              <a:t>SUPERVISED LEARNING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6E23"/>
                </a:solidFill>
                <a:latin typeface="Aptos Display"/>
              </a:defRPr>
            </a:pPr>
            <a:r>
              <a:t>CALIBO AI ACADEMY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03504"/>
            <a:ext cx="914400" cy="32004"/>
          </a:xfrm>
          <a:prstGeom prst="rect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3737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ptos Display"/>
              </a:defRPr>
            </a:pPr>
            <a:r>
              <a:t>The business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9696"/>
                </a:solidFill>
                <a:latin typeface="Aptos"/>
              </a:defRPr>
            </a:pPr>
            <a:r>
              <a:t>Turn customer data into an early-warning system for retention.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56E23"/>
                </a:solidFill>
                <a:latin typeface="Aptos"/>
              </a:defRPr>
            </a:pPr>
            <a:r>
              <a:t>SUBSCRIPTION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500" b="1">
                <a:solidFill>
                  <a:srgbClr val="181818"/>
                </a:solidFill>
                <a:latin typeface="Aptos"/>
              </a:defRPr>
            </a:pPr>
            <a:r>
              <a:t>Customers are leaving.</a:t>
            </a:r>
            <a:br/>
            <a:r>
              <a:t>The retention team needs to know who may leave next.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56E23"/>
                </a:solidFill>
                <a:latin typeface="Aptos"/>
              </a:defRPr>
            </a:pPr>
            <a:r>
              <a:t>Our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44805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Aptos"/>
              </a:defRPr>
            </a:pPr>
            <a:r>
              <a:t>Predict Churn = Yes / No using demographic, billing, usage, service, contract and satisfaction information.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51960"/>
            <a:ext cx="4572000" cy="50292"/>
          </a:xfrm>
          <a:prstGeom prst="rect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56E23"/>
                </a:solidFill>
                <a:latin typeface="Aptos"/>
              </a:defRPr>
            </a:pPr>
            <a:r>
              <a:t>Business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181818"/>
                </a:solidFill>
                <a:latin typeface="Aptos"/>
              </a:defRPr>
            </a:pPr>
            <a:r>
              <a:t>Prioritize retention attention — not replace human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6E23"/>
                </a:solidFill>
                <a:latin typeface="Aptos Display"/>
              </a:defRPr>
            </a:pPr>
            <a:r>
              <a:t>CALIBO AI ACADEMY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03504"/>
            <a:ext cx="914400" cy="32004"/>
          </a:xfrm>
          <a:prstGeom prst="rect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3737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ptos Display"/>
              </a:defRPr>
            </a:pPr>
            <a:r>
              <a:t>Three questions drive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56E2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3911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181818"/>
                </a:solidFill>
                <a:latin typeface="Aptos"/>
              </a:defRPr>
            </a:pPr>
            <a:r>
              <a:t>WHAT DRIVES CHURN?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039112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Explore customer and service characteristics associated with churn.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2542032"/>
            <a:ext cx="9052560" cy="13716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55848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56E2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3756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181818"/>
                </a:solidFill>
                <a:latin typeface="Aptos"/>
              </a:defRPr>
            </a:pPr>
            <a:r>
              <a:t>CAN WE PREDICT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337560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Build a binary classification model for Churn = Yes / No.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3840480"/>
            <a:ext cx="9052560" cy="13716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54296"/>
            <a:ext cx="594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56E2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63600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181818"/>
                </a:solidFill>
                <a:latin typeface="Aptos"/>
              </a:defRPr>
            </a:pPr>
            <a:r>
              <a:t>WHICH MODEL IS RELIABLE?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636008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Compare multiple algorithms using unseen-test and cross-validation evidence.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5138928"/>
            <a:ext cx="9052560" cy="13716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6E23"/>
                </a:solidFill>
                <a:latin typeface="Aptos Display"/>
              </a:defRPr>
            </a:pPr>
            <a:r>
              <a:t>CALIBO AI ACADEMY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03504"/>
            <a:ext cx="914400" cy="32004"/>
          </a:xfrm>
          <a:prstGeom prst="rect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Dataset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DCDCD"/>
                </a:solidFill>
                <a:latin typeface="Aptos"/>
              </a:defRPr>
            </a:pPr>
            <a:r>
              <a:t>A small, messy dataset — making data quality part of the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F56E23"/>
                </a:solidFill>
                <a:latin typeface="Aptos"/>
              </a:defRPr>
            </a:pPr>
            <a:r>
              <a:t>184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243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original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574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180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6243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records after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0574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F56E2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6243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original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05740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94 / 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243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Churn Yes /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776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56E23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315968"/>
            <a:ext cx="7223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0">
                <a:solidFill>
                  <a:srgbClr val="D7D7D7"/>
                </a:solidFill>
                <a:latin typeface="Aptos"/>
              </a:defRPr>
            </a:pPr>
            <a:r>
              <a:t>Binary classification: Yes = customer left / No = customer stayed.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6E23"/>
                </a:solidFill>
                <a:latin typeface="Aptos Display"/>
              </a:defRPr>
            </a:pPr>
            <a:r>
              <a:t>CALIBO AI ACADEMY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03504"/>
            <a:ext cx="914400" cy="32004"/>
          </a:xfrm>
          <a:prstGeom prst="rect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3737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ptos Display"/>
              </a:defRPr>
            </a:pPr>
            <a:r>
              <a:t>Cleaning the mess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9696"/>
                </a:solidFill>
                <a:latin typeface="Aptos"/>
              </a:defRPr>
            </a:pPr>
            <a:r>
              <a:t>We investigated unusual values before deciding what to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56E2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574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81818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68880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4 exact duplicates removed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5740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56E2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0574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81818"/>
                </a:solidFill>
                <a:latin typeface="Aptos"/>
              </a:defRPr>
            </a:pPr>
            <a:r>
              <a:t>MISSING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468880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Numerical + categorical gaps handled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8620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56E2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862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81818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97680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Capitalization, spaces and placeholders standardized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88620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F56E2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88620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81818"/>
                </a:solidFill>
                <a:latin typeface="Aptos"/>
              </a:defRPr>
            </a:pPr>
            <a:r>
              <a:t>INVALID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297680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Impossible ages, negative usage/income and invalid satisfaction fixed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06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81818"/>
                </a:solidFill>
                <a:latin typeface="Aptos"/>
              </a:defRPr>
            </a:pPr>
            <a:r>
              <a:t>Final verification → 180 rows • 13 original columns • 0 missing • 0 duplicate 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6E23"/>
                </a:solidFill>
                <a:latin typeface="Aptos Display"/>
              </a:defRPr>
            </a:pPr>
            <a:r>
              <a:t>CALIBO AI ACADEMY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03504"/>
            <a:ext cx="914400" cy="32004"/>
          </a:xfrm>
          <a:prstGeom prst="rect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3737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ptos Display"/>
              </a:defRPr>
            </a:pPr>
            <a:r>
              <a:t>EDA: where churn appears concentrated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9696"/>
                </a:solidFill>
                <a:latin typeface="Aptos"/>
              </a:defRPr>
            </a:pPr>
            <a:r>
              <a:t>Observed associations — not proof of causation.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56E23"/>
                </a:solidFill>
                <a:latin typeface="Aptos"/>
              </a:defRPr>
            </a:pPr>
            <a:r>
              <a:t>62.50%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81818"/>
                </a:solidFill>
                <a:latin typeface="Aptos"/>
              </a:defRPr>
            </a:pPr>
            <a:r>
              <a:t>Monthly contracts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735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ptos"/>
              </a:defRPr>
            </a:pPr>
            <a:r>
              <a:t>observed churn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48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56E23"/>
                </a:solidFill>
                <a:latin typeface="Aptos"/>
              </a:defRPr>
            </a:pPr>
            <a:r>
              <a:t>78.57%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7889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81818"/>
                </a:solidFill>
                <a:latin typeface="Aptos"/>
              </a:defRPr>
            </a:pPr>
            <a:r>
              <a:t>6+ support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2735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ptos"/>
              </a:defRPr>
            </a:pPr>
            <a:r>
              <a:t>observed churn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48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56E23"/>
                </a:solidFill>
                <a:latin typeface="Aptos"/>
              </a:defRPr>
            </a:pPr>
            <a:r>
              <a:t>29.41%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7889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81818"/>
                </a:solidFill>
                <a:latin typeface="Aptos"/>
              </a:defRPr>
            </a:pPr>
            <a:r>
              <a:t>Satisfaction =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2735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ptos"/>
              </a:defRPr>
            </a:pPr>
            <a:r>
              <a:t>observed churn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21488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56E23"/>
                </a:solidFill>
                <a:latin typeface="Aptos"/>
              </a:defRPr>
            </a:pPr>
            <a:r>
              <a:t>62.22%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278892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81818"/>
                </a:solidFill>
                <a:latin typeface="Aptos"/>
              </a:defRPr>
            </a:pPr>
            <a:r>
              <a:t>Highest usage quartile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3273552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Aptos"/>
              </a:defRPr>
            </a:pPr>
            <a:r>
              <a:t>observed churn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00600"/>
            <a:ext cx="9052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181818"/>
                </a:solidFill>
                <a:latin typeface="Aptos"/>
              </a:defRPr>
            </a:pPr>
            <a:r>
              <a:t>The strongest visible signals became candidates for the machine-learning stage.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21808"/>
            <a:ext cx="9052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Monthly contract • Support calls • Satisfaction • Data usage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6E23"/>
                </a:solidFill>
                <a:latin typeface="Aptos Display"/>
              </a:defRPr>
            </a:pPr>
            <a:r>
              <a:t>CALIBO AI ACADEMY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03504"/>
            <a:ext cx="914400" cy="32004"/>
          </a:xfrm>
          <a:prstGeom prst="rect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3737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ptos Display"/>
              </a:defRPr>
            </a:pPr>
            <a:r>
              <a:t>From raw data to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9696"/>
                </a:solidFill>
                <a:latin typeface="Aptos"/>
              </a:defRPr>
            </a:pPr>
            <a:r>
              <a:t>The modeling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56E2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71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81818"/>
                </a:solidFill>
                <a:latin typeface="Aptos"/>
              </a:defRPr>
            </a:pPr>
            <a:r>
              <a:t>FEATURES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03120" y="3108960"/>
            <a:ext cx="411480" cy="0"/>
          </a:xfrm>
          <a:prstGeom prst="line">
            <a:avLst/>
          </a:prstGeom>
          <a:ln w="25400">
            <a:solidFill>
              <a:srgbClr val="F56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56E2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71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81818"/>
                </a:solidFill>
                <a:latin typeface="Aptos"/>
              </a:defRPr>
            </a:pPr>
            <a:r>
              <a:t>80 / 20 SPLIT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3108960"/>
            <a:ext cx="411480" cy="0"/>
          </a:xfrm>
          <a:prstGeom prst="line">
            <a:avLst/>
          </a:prstGeom>
          <a:ln w="25400">
            <a:solidFill>
              <a:srgbClr val="F56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0060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56E2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971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81818"/>
                </a:solidFill>
                <a:latin typeface="Aptos"/>
              </a:defRPr>
            </a:pPr>
            <a:r>
              <a:t>PREPROCESS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0" y="3108960"/>
            <a:ext cx="411480" cy="0"/>
          </a:xfrm>
          <a:prstGeom prst="line">
            <a:avLst/>
          </a:prstGeom>
          <a:ln w="25400">
            <a:solidFill>
              <a:srgbClr val="F56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56E2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71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81818"/>
                </a:solidFill>
                <a:latin typeface="Aptos"/>
              </a:defRPr>
            </a:pPr>
            <a:r>
              <a:t>4 MODELS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75320" y="3108960"/>
            <a:ext cx="640080" cy="0"/>
          </a:xfrm>
          <a:prstGeom prst="line">
            <a:avLst/>
          </a:prstGeom>
          <a:ln w="25400">
            <a:solidFill>
              <a:srgbClr val="F56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56E2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971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181818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434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Numerical → StandardScaler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43434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Aptos"/>
              </a:defRPr>
            </a:pPr>
            <a:r>
              <a:t>Categorical → One-Hot Encoding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81818"/>
                </a:solidFill>
                <a:latin typeface="Aptos"/>
              </a:defRPr>
            </a:pPr>
            <a:r>
              <a:t>Customer_ID excluded: identifier, not a meaningful predictor.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6E23"/>
                </a:solidFill>
                <a:latin typeface="Aptos Display"/>
              </a:defRPr>
            </a:pPr>
            <a:r>
              <a:t>CALIBO AI ACADEMY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03504"/>
            <a:ext cx="914400" cy="32004"/>
          </a:xfrm>
          <a:prstGeom prst="rect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Four models. Four learning strategies.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DCDCD"/>
                </a:solidFill>
                <a:latin typeface="Aptos"/>
              </a:defRPr>
            </a:pPr>
            <a:r>
              <a:t>They are alternatives — not successive upgrades.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6E2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3852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56E23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38528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CDCDCD"/>
                </a:solidFill>
                <a:latin typeface="Aptos"/>
              </a:defRPr>
            </a:pPr>
            <a:r>
              <a:t>Learns a probability from feature relationships.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2404872"/>
            <a:ext cx="8961120" cy="10972"/>
          </a:xfrm>
          <a:prstGeom prst="rect">
            <a:avLst/>
          </a:prstGeom>
          <a:solidFill>
            <a:srgbClr val="4B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535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6E2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9260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KNN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CDCDCD"/>
                </a:solidFill>
                <a:latin typeface="Aptos"/>
              </a:defRPr>
            </a:pPr>
            <a:r>
              <a:t>Uses similarity to nearby customers.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3392424"/>
            <a:ext cx="8961120" cy="10972"/>
          </a:xfrm>
          <a:prstGeom prst="rect">
            <a:avLst/>
          </a:prstGeom>
          <a:solidFill>
            <a:srgbClr val="4B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410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6E2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1363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56E23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913632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CDCDCD"/>
                </a:solidFill>
                <a:latin typeface="Aptos"/>
              </a:defRPr>
            </a:pPr>
            <a:r>
              <a:t>Learns if/then decision rules.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4379976"/>
            <a:ext cx="8961120" cy="10972"/>
          </a:xfrm>
          <a:prstGeom prst="rect">
            <a:avLst/>
          </a:prstGeom>
          <a:solidFill>
            <a:srgbClr val="4B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92861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6E2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90118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01184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CDCDCD"/>
                </a:solidFill>
                <a:latin typeface="Aptos"/>
              </a:defRPr>
            </a:pPr>
            <a:r>
              <a:t>Combines many decision trees.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5367528"/>
            <a:ext cx="8961120" cy="10972"/>
          </a:xfrm>
          <a:prstGeom prst="rect">
            <a:avLst/>
          </a:prstGeom>
          <a:solidFill>
            <a:srgbClr val="4B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6E23"/>
                </a:solidFill>
                <a:latin typeface="Aptos Display"/>
              </a:defRPr>
            </a:pPr>
            <a:r>
              <a:t>CALIBO AI ACADEMY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03504"/>
            <a:ext cx="914400" cy="32004"/>
          </a:xfrm>
          <a:prstGeom prst="rect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3737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ptos Display"/>
              </a:defRPr>
            </a:pPr>
            <a:r>
              <a:t>Model outputs on unseen test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9696"/>
                </a:solidFill>
                <a:latin typeface="Aptos"/>
              </a:defRPr>
            </a:pPr>
            <a:r>
              <a:t>The same 36 held-out customers were used for each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56E23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74519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56E23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874519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56E23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874519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56E23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874519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56E23"/>
                </a:solidFill>
                <a:latin typeface="Aptos"/>
              </a:defRPr>
            </a:pPr>
            <a:r>
              <a:t>TEST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874519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56E23"/>
                </a:solidFill>
                <a:latin typeface="Aptos"/>
              </a:defRPr>
            </a:pPr>
            <a:r>
              <a:t>CV MEAN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9572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81818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9572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6E23"/>
                </a:solidFill>
                <a:latin typeface="Aptos"/>
              </a:defRPr>
            </a:pPr>
            <a:r>
              <a:t>61.11%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39572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6E23"/>
                </a:solidFill>
                <a:latin typeface="Aptos"/>
              </a:defRPr>
            </a:pPr>
            <a:r>
              <a:t>66.67%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39572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6E23"/>
                </a:solidFill>
                <a:latin typeface="Aptos"/>
              </a:defRPr>
            </a:pPr>
            <a:r>
              <a:t>52.63%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39572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6E23"/>
                </a:solidFill>
                <a:latin typeface="Aptos"/>
              </a:defRPr>
            </a:pPr>
            <a:r>
              <a:t>58.82%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39572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6E23"/>
                </a:solidFill>
                <a:latin typeface="Aptos"/>
              </a:defRPr>
            </a:pPr>
            <a:r>
              <a:t>65.07%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34640"/>
            <a:ext cx="1046988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45536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KNN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145536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44.44%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145536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46.67%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145536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36.84%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145536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41.18%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145536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60.25%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584448"/>
            <a:ext cx="1046988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895344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895344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50.00%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3895344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53.33%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895344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42.11%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895344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47.06%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3895344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58.38%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334256"/>
            <a:ext cx="1046988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64515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64515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55.56%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464515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60.00%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64515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47.37%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464515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52.94%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464515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181818"/>
                </a:solidFill>
                <a:latin typeface="Aptos"/>
              </a:defRPr>
            </a:pPr>
            <a:r>
              <a:t>56.74%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084064"/>
            <a:ext cx="1046988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623560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181818"/>
                </a:solidFill>
                <a:latin typeface="Aptos"/>
              </a:defRPr>
            </a:pPr>
            <a:r>
              <a:t>Key signal → Logistic Regression has the highest observed CV Mean F1: 65.07%.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6E23"/>
                </a:solidFill>
                <a:latin typeface="Aptos Display"/>
              </a:defRPr>
            </a:pPr>
            <a:r>
              <a:t>CALIBO AI ACADEMY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03504"/>
            <a:ext cx="914400" cy="32004"/>
          </a:xfrm>
          <a:prstGeom prst="rect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3737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ptos Display"/>
              </a:defRPr>
            </a:pPr>
            <a:r>
              <a:t>Why Logistic Regression was selected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9696"/>
                </a:solidFill>
                <a:latin typeface="Aptos"/>
              </a:defRPr>
            </a:pPr>
            <a:r>
              <a:t>Selection based on the evidence we obtained from this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56E23"/>
                </a:solidFill>
                <a:latin typeface="Aptos"/>
              </a:defRPr>
            </a:pPr>
            <a:r>
              <a:t>65.07%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51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81818"/>
                </a:solidFill>
                <a:latin typeface="Aptos"/>
              </a:defRPr>
            </a:pPr>
            <a:r>
              <a:t>highest mean CV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375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181818"/>
                </a:solidFill>
                <a:latin typeface="Aptos"/>
              </a:defRPr>
            </a:pPr>
            <a:r>
              <a:t>58.82%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114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81818"/>
                </a:solidFill>
                <a:latin typeface="Aptos"/>
              </a:defRPr>
            </a:pPr>
            <a:r>
              <a:t>held-out test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006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000" b="1">
                <a:solidFill>
                  <a:srgbClr val="F56E23"/>
                </a:solidFill>
                <a:latin typeface="Aptos"/>
              </a:defRPr>
            </a:pPr>
            <a:r>
              <a:t>6.25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4864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81818"/>
                </a:solidFill>
                <a:latin typeface="Aptos"/>
              </a:defRPr>
            </a:pPr>
            <a:r>
              <a:t>CV–test F1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103120"/>
            <a:ext cx="63093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181818"/>
                </a:solidFill>
                <a:latin typeface="Aptos"/>
              </a:defRPr>
            </a:pPr>
            <a:r>
              <a:t>The conclusion is dataset-specific: the four algorithms were compared on the same problem, and Logistic Regression showed the strongest observed cross-validation F1 with a reasonably small CV–test difference.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617720"/>
            <a:ext cx="5852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Aptos"/>
              </a:defRPr>
            </a:pPr>
            <a:r>
              <a:t>This does not mean Logistic Regression is universally better than Random Forest or the other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6E23"/>
                </a:solidFill>
                <a:latin typeface="Aptos Display"/>
              </a:defRPr>
            </a:pPr>
            <a:r>
              <a:t>CALIBO AI ACADEMY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03504"/>
            <a:ext cx="914400" cy="32004"/>
          </a:xfrm>
          <a:prstGeom prst="rect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Final model: what did it get right — and miss?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DCDCD"/>
                </a:solidFill>
                <a:latin typeface="Aptos"/>
              </a:defRPr>
            </a:pPr>
            <a:r>
              <a:t>Confusion matrix at the default 0.50 threshold.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5727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EBEBE"/>
                </a:solidFill>
                <a:latin typeface="Aptos"/>
              </a:defRPr>
            </a:pPr>
            <a:r>
              <a:t>ACTUAL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783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56E23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7830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56E23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69748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BEBEBE"/>
                </a:solidFill>
                <a:latin typeface="Aptos"/>
              </a:defRPr>
            </a:pPr>
            <a:r>
              <a:t>PREDICTED 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057400"/>
            <a:ext cx="2148840" cy="1234440"/>
          </a:xfrm>
          <a:prstGeom prst="rect">
            <a:avLst/>
          </a:prstGeom>
          <a:solidFill>
            <a:srgbClr val="F56E23"/>
          </a:solidFill>
          <a:ln>
            <a:solidFill>
              <a:srgbClr val="18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313432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80720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79" y="2057400"/>
            <a:ext cx="2148840" cy="1234440"/>
          </a:xfrm>
          <a:prstGeom prst="rect">
            <a:avLst/>
          </a:prstGeom>
          <a:solidFill>
            <a:srgbClr val="373737"/>
          </a:solidFill>
          <a:ln>
            <a:solidFill>
              <a:srgbClr val="18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79" y="2313432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79" y="280720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3291840"/>
            <a:ext cx="2148840" cy="1234440"/>
          </a:xfrm>
          <a:prstGeom prst="rect">
            <a:avLst/>
          </a:prstGeom>
          <a:solidFill>
            <a:srgbClr val="F56E23"/>
          </a:solidFill>
          <a:ln>
            <a:solidFill>
              <a:srgbClr val="18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547872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04164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79" y="3291840"/>
            <a:ext cx="2148840" cy="1234440"/>
          </a:xfrm>
          <a:prstGeom prst="rect">
            <a:avLst/>
          </a:prstGeom>
          <a:solidFill>
            <a:srgbClr val="373737"/>
          </a:solidFill>
          <a:ln>
            <a:solidFill>
              <a:srgbClr val="18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79" y="3547872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4041648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286000"/>
            <a:ext cx="3566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10 actual churners correctly identified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33756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1">
                <a:solidFill>
                  <a:srgbClr val="F56E23"/>
                </a:solidFill>
                <a:latin typeface="Aptos"/>
              </a:defRPr>
            </a:pPr>
            <a:r>
              <a:t>9 actual churners were missed (false negatives)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09160"/>
            <a:ext cx="39776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D2D2D2"/>
                </a:solidFill>
                <a:latin typeface="Aptos"/>
              </a:defRPr>
            </a:pPr>
            <a:r>
              <a:t>For retention, false negatives matter because a customer who leaves without being flagged is a missed intervention opportunity.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6E23"/>
                </a:solidFill>
                <a:latin typeface="Aptos Display"/>
              </a:defRPr>
            </a:pPr>
            <a:r>
              <a:t>CALIBO AI ACADEMY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03504"/>
            <a:ext cx="914400" cy="32004"/>
          </a:xfrm>
          <a:prstGeom prst="rect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3737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ptos Display"/>
              </a:defRPr>
            </a:pPr>
            <a:r>
              <a:t>Threshold tuning: changing the decision cutoff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9696"/>
                </a:solidFill>
                <a:latin typeface="Aptos"/>
              </a:defRPr>
            </a:pPr>
            <a:r>
              <a:t>Lowering the cutoff catches more potential churners — but creates more false alarms.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6E23"/>
                </a:solidFill>
                <a:latin typeface="Aptos"/>
              </a:defRPr>
            </a:pPr>
            <a:r>
              <a:t>DEFAULT 0.50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 b="1">
                <a:solidFill>
                  <a:srgbClr val="181818"/>
                </a:solidFill>
                <a:latin typeface="Aptos"/>
              </a:defRPr>
            </a:pPr>
            <a:r>
              <a:t>Precision 66.67%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 b="1">
                <a:solidFill>
                  <a:srgbClr val="181818"/>
                </a:solidFill>
                <a:latin typeface="Aptos"/>
              </a:defRPr>
            </a:pPr>
            <a:r>
              <a:t>Recall 52.63%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 b="1">
                <a:solidFill>
                  <a:srgbClr val="181818"/>
                </a:solidFill>
                <a:latin typeface="Aptos"/>
              </a:defRPr>
            </a:pPr>
            <a:r>
              <a:t>F1 58.82%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82880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6E23"/>
                </a:solidFill>
                <a:latin typeface="Aptos"/>
              </a:defRPr>
            </a:pPr>
            <a:r>
              <a:t>EXPLORATORY 0.30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3317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 b="1">
                <a:solidFill>
                  <a:srgbClr val="181818"/>
                </a:solidFill>
                <a:latin typeface="Aptos"/>
              </a:defRPr>
            </a:pPr>
            <a:r>
              <a:t>Precision 53.85%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803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 b="1">
                <a:solidFill>
                  <a:srgbClr val="181818"/>
                </a:solidFill>
                <a:latin typeface="Aptos"/>
              </a:defRPr>
            </a:pPr>
            <a:r>
              <a:t>Recall 73.68%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4290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 b="1">
                <a:solidFill>
                  <a:srgbClr val="181818"/>
                </a:solidFill>
                <a:latin typeface="Aptos"/>
              </a:defRPr>
            </a:pPr>
            <a:r>
              <a:t>F1 62.22%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60520" y="2788920"/>
            <a:ext cx="1234440" cy="502920"/>
          </a:xfrm>
          <a:prstGeom prst="rightArrow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33832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>
                <a:solidFill>
                  <a:srgbClr val="2D2D2D"/>
                </a:solidFill>
                <a:latin typeface="Aptos"/>
              </a:defRPr>
            </a:pPr>
            <a:r>
              <a:t>lower cutoff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F56E23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181818"/>
                </a:solidFill>
                <a:latin typeface="Aptos"/>
              </a:defRPr>
            </a:pPr>
            <a:r>
              <a:t>0.30 increases recall because more customers are flagged as potential churners. Precision falls because more non-churners are also flagged. The 0.30 result is exploratory, since it was evaluated on the held-out test 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6E23"/>
                </a:solidFill>
                <a:latin typeface="Aptos Display"/>
              </a:defRPr>
            </a:pPr>
            <a:r>
              <a:t>CALIBO AI ACADEMY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03504"/>
            <a:ext cx="914400" cy="32004"/>
          </a:xfrm>
          <a:prstGeom prst="rect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3737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1818"/>
                </a:solidFill>
                <a:latin typeface="Aptos Display"/>
              </a:defRPr>
            </a:pPr>
            <a:r>
              <a:t>What the business should pay attention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9696"/>
                </a:solidFill>
                <a:latin typeface="Aptos"/>
              </a:defRPr>
            </a:pPr>
            <a:r>
              <a:t>Insights translated into practical retention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6E2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7451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81818"/>
                </a:solidFill>
                <a:latin typeface="Aptos"/>
              </a:defRPr>
            </a:pPr>
            <a:r>
              <a:t>MONTHLY CONTRACTS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874519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62.50% observed churn → consider targeted retention and longer-term plan options.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2441448"/>
            <a:ext cx="932688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2607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6E2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92607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81818"/>
                </a:solidFill>
                <a:latin typeface="Aptos"/>
              </a:defRPr>
            </a:pPr>
            <a:r>
              <a:t>6+ SUPPORT 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926079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78.57% observed churn → prioritize service-quality review and proactive follow-up.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3493008"/>
            <a:ext cx="932688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7763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6E2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776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81818"/>
                </a:solidFill>
                <a:latin typeface="Aptos"/>
              </a:defRPr>
            </a:pPr>
            <a:r>
              <a:t>SATISFACTION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977639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Higher satisfaction generally aligned with lower observed churn → monitor low-satisfaction customers.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4544568"/>
            <a:ext cx="932688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292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6E2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029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181818"/>
                </a:solidFill>
                <a:latin typeface="Aptos"/>
              </a:defRPr>
            </a:pPr>
            <a:r>
              <a:t>PREDICTED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029200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Aptos"/>
              </a:defRPr>
            </a:pPr>
            <a:r>
              <a:t>Use churn probability to prioritize retention activity; choose thresholds using validation + business cost.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5596128"/>
            <a:ext cx="932688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9966960" y="-182880"/>
            <a:ext cx="2743200" cy="7315200"/>
          </a:xfrm>
          <a:prstGeom prst="parallelogram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9646920" y="-182880"/>
            <a:ext cx="228600" cy="7315200"/>
          </a:xfrm>
          <a:prstGeom prst="parallelogram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5603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6E23"/>
                </a:solidFill>
                <a:latin typeface="Aptos Display"/>
              </a:defRPr>
            </a:pPr>
            <a:r>
              <a:t>CALIBO AI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03504"/>
            <a:ext cx="914400" cy="32004"/>
          </a:xfrm>
          <a:prstGeom prst="rect">
            <a:avLst/>
          </a:prstGeom>
          <a:solidFill>
            <a:srgbClr val="F56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772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44475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DCDCD"/>
                </a:solidFill>
                <a:latin typeface="Aptos"/>
              </a:defRPr>
            </a:pPr>
            <a:r>
              <a:t>From messy data to an evidence-based churn screening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6E2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933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93392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D2D2D2"/>
                </a:solidFill>
                <a:latin typeface="Aptos"/>
              </a:defRPr>
            </a:pPr>
            <a:r>
              <a:t>184 → 180 usable records after quality checks.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6E2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163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816352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D2D2D2"/>
                </a:solidFill>
                <a:latin typeface="Aptos"/>
              </a:defRPr>
            </a:pPr>
            <a:r>
              <a:t>Four classification approaches tested on the same problem.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576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6E2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6393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63931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D2D2D2"/>
                </a:solidFill>
                <a:latin typeface="Aptos"/>
              </a:defRPr>
            </a:pPr>
            <a:r>
              <a:t>Logistic Regression → highest observed CV Mean F1: 65.07%.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80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6E2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4622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USE CAREFULLY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462272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D2D2D2"/>
                </a:solidFill>
                <a:latin typeface="Aptos"/>
              </a:defRPr>
            </a:pPr>
            <a:r>
              <a:t>Model is a screening tool; larger and future datasets are needed for production validation.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89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F56E23"/>
                </a:solidFill>
                <a:latin typeface="Aptos"/>
              </a:defRPr>
            </a:pPr>
            <a:r>
              <a:t>CUSTOMER CHURN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